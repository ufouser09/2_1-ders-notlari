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9" r:id="rId6"/>
    <p:sldId id="270" r:id="rId7"/>
    <p:sldId id="260" r:id="rId8"/>
    <p:sldId id="261" r:id="rId9"/>
    <p:sldId id="263" r:id="rId10"/>
    <p:sldId id="264" r:id="rId11"/>
    <p:sldId id="265" r:id="rId12"/>
    <p:sldId id="266" r:id="rId13"/>
    <p:sldId id="267" r:id="rId14"/>
    <p:sldId id="268" r:id="rId15"/>
    <p:sldId id="271" r:id="rId16"/>
    <p:sldId id="272" r:id="rId17"/>
    <p:sldId id="273" r:id="rId18"/>
    <p:sldId id="274" r:id="rId19"/>
    <p:sldId id="275" r:id="rId20"/>
    <p:sldId id="276" r:id="rId21"/>
    <p:sldId id="277" r:id="rId22"/>
    <p:sldId id="278" r:id="rId23"/>
    <p:sldId id="262"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216" y="4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9B21F-9039-10FF-5A62-28457224B6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8ACCD4-3953-1B41-57D7-B808664BD7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861CC3-2565-D8AC-B851-4A3D89F3F3D6}"/>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5" name="Footer Placeholder 4">
            <a:extLst>
              <a:ext uri="{FF2B5EF4-FFF2-40B4-BE49-F238E27FC236}">
                <a16:creationId xmlns:a16="http://schemas.microsoft.com/office/drawing/2014/main" id="{439C56E5-2E55-3C0E-BF25-DCBCB1AB46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7C405D-BD28-79D7-15FA-4B844BC4DD31}"/>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3173977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C2CA9-9D01-B389-477B-8FBAF25D23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122B05-379B-1BE0-0976-8B2EC1E150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E5AB78-6D7F-5EA9-C872-7618D3FA0582}"/>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5" name="Footer Placeholder 4">
            <a:extLst>
              <a:ext uri="{FF2B5EF4-FFF2-40B4-BE49-F238E27FC236}">
                <a16:creationId xmlns:a16="http://schemas.microsoft.com/office/drawing/2014/main" id="{92B27BFC-8C50-11C8-7660-4C3178AE3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10D520-774E-8427-840B-365E9ADB759C}"/>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1547616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7B4B-C9A0-8BE8-E70E-9EE4A244B6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E99CB3-2302-49EB-74AE-9E2BA2DFE3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533DD8-3EBD-363C-9655-A52B9E56F03F}"/>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5" name="Footer Placeholder 4">
            <a:extLst>
              <a:ext uri="{FF2B5EF4-FFF2-40B4-BE49-F238E27FC236}">
                <a16:creationId xmlns:a16="http://schemas.microsoft.com/office/drawing/2014/main" id="{EE5DA951-9DE5-91B9-C9EA-782E6B9D6E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3CFD28-F075-EC8D-422E-83A2E43D1622}"/>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2593586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3EA2-062D-2C33-030F-BFB72EDA06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5AED33-8F90-7C93-174C-13298065C6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490FA6-2725-3A1A-7010-D9E78D19C8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CD6475-6935-FCB4-2045-B3C317B86E33}"/>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6" name="Footer Placeholder 5">
            <a:extLst>
              <a:ext uri="{FF2B5EF4-FFF2-40B4-BE49-F238E27FC236}">
                <a16:creationId xmlns:a16="http://schemas.microsoft.com/office/drawing/2014/main" id="{97F4CE20-73FA-8C68-E654-F68B69C095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D843E0-3F88-0CF4-A0C9-FD301D92651A}"/>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1459445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02D77-BBC0-2E80-B1BD-FDF475636A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14A808-A0B6-BB10-A27E-F6314AB590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012620-4785-1D57-FDCD-5FB7F26E09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325A74-DF84-FDCB-63DA-9A40C6ADE1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1404AF-8AF7-3799-0964-D049A041C9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6F2D36-2B18-2747-FF01-59C1BE457E72}"/>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8" name="Footer Placeholder 7">
            <a:extLst>
              <a:ext uri="{FF2B5EF4-FFF2-40B4-BE49-F238E27FC236}">
                <a16:creationId xmlns:a16="http://schemas.microsoft.com/office/drawing/2014/main" id="{231F355D-596E-AF04-1C0B-74C5867263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C158C9-C347-FD41-6046-4697D4614B2C}"/>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4150110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EA8A6-6C69-8F81-9A3E-431EEBFA6B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439909-B71C-004E-34E2-EE86D16F63FD}"/>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4" name="Footer Placeholder 3">
            <a:extLst>
              <a:ext uri="{FF2B5EF4-FFF2-40B4-BE49-F238E27FC236}">
                <a16:creationId xmlns:a16="http://schemas.microsoft.com/office/drawing/2014/main" id="{4619CACD-7A70-47AD-E6AB-BBE71C6769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E76C18-95C1-BEA6-DBD5-C2B34289FCD0}"/>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3509173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B9C14D-02C3-E605-5E92-8A39401F2841}"/>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3" name="Footer Placeholder 2">
            <a:extLst>
              <a:ext uri="{FF2B5EF4-FFF2-40B4-BE49-F238E27FC236}">
                <a16:creationId xmlns:a16="http://schemas.microsoft.com/office/drawing/2014/main" id="{5AACB6C9-C5E7-B444-FBEE-1D71EC3E17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0B71F-705B-3D78-693F-03DB8254C48C}"/>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3828927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1544-4843-8D04-F653-0A73000E18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494138-8112-46E3-0184-675547E28A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1E85E6-BE93-DCAB-3A4D-87FCD0DD62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340221-0CB2-DCEF-322F-AA69BD732AE9}"/>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6" name="Footer Placeholder 5">
            <a:extLst>
              <a:ext uri="{FF2B5EF4-FFF2-40B4-BE49-F238E27FC236}">
                <a16:creationId xmlns:a16="http://schemas.microsoft.com/office/drawing/2014/main" id="{6507610F-05E5-1F1E-68BC-8C7BF7C500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FAE650-3E9D-0D33-DD95-E4A7F3C26ABD}"/>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4218806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E6862-E8AE-0490-2253-A043B9A13A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8B4052-8736-EFD4-A607-BBF946C111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759D6D-8AF1-BAF3-7496-85B105A1ED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83E932-4D9F-99A8-0A38-7CBB4D09E8A9}"/>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6" name="Footer Placeholder 5">
            <a:extLst>
              <a:ext uri="{FF2B5EF4-FFF2-40B4-BE49-F238E27FC236}">
                <a16:creationId xmlns:a16="http://schemas.microsoft.com/office/drawing/2014/main" id="{735F5838-3405-5DE7-B67D-45B173AC9E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416CDE-1346-782B-A167-C0341EAFFF7D}"/>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1475517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AD66C-434A-3BCA-2C2C-338C35ED37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C4107F-DB55-BDBB-B8D8-E8257F5BA8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B43A60-A39E-7616-8539-06EC32A8858E}"/>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5" name="Footer Placeholder 4">
            <a:extLst>
              <a:ext uri="{FF2B5EF4-FFF2-40B4-BE49-F238E27FC236}">
                <a16:creationId xmlns:a16="http://schemas.microsoft.com/office/drawing/2014/main" id="{711B5FCD-352E-4FAF-CE24-440FAA2847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426AA4-CA65-B60E-65D3-7B1F011A66AE}"/>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3679292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E85941-D304-AB2A-FC7C-B20FDDAFFAD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95B607-DC0D-FF72-F0D3-CA95E3A209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10188-2818-B283-4CD4-88D37DA34786}"/>
              </a:ext>
            </a:extLst>
          </p:cNvPr>
          <p:cNvSpPr>
            <a:spLocks noGrp="1"/>
          </p:cNvSpPr>
          <p:nvPr>
            <p:ph type="dt" sz="half" idx="10"/>
          </p:nvPr>
        </p:nvSpPr>
        <p:spPr/>
        <p:txBody>
          <a:bodyPr/>
          <a:lstStyle/>
          <a:p>
            <a:fld id="{5B218141-89D9-42D7-ADDF-9CB76CCFA3C0}" type="datetimeFigureOut">
              <a:rPr lang="en-US" smtClean="0"/>
              <a:t>10/19/2023</a:t>
            </a:fld>
            <a:endParaRPr lang="en-US"/>
          </a:p>
        </p:txBody>
      </p:sp>
      <p:sp>
        <p:nvSpPr>
          <p:cNvPr id="5" name="Footer Placeholder 4">
            <a:extLst>
              <a:ext uri="{FF2B5EF4-FFF2-40B4-BE49-F238E27FC236}">
                <a16:creationId xmlns:a16="http://schemas.microsoft.com/office/drawing/2014/main" id="{85490D85-9568-5CF2-CA32-BE6A033EA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27C033-B892-6370-92C8-EECAC66CCFDB}"/>
              </a:ext>
            </a:extLst>
          </p:cNvPr>
          <p:cNvSpPr>
            <a:spLocks noGrp="1"/>
          </p:cNvSpPr>
          <p:nvPr>
            <p:ph type="sldNum" sz="quarter" idx="12"/>
          </p:nvPr>
        </p:nvSpPr>
        <p:spPr/>
        <p:txBody>
          <a:bodyPr/>
          <a:lstStyle/>
          <a:p>
            <a:fld id="{036F60A0-C737-42F5-96D0-0AE44E1E4F82}" type="slidenum">
              <a:rPr lang="en-US" smtClean="0"/>
              <a:t>‹#›</a:t>
            </a:fld>
            <a:endParaRPr lang="en-US"/>
          </a:p>
        </p:txBody>
      </p:sp>
    </p:spTree>
    <p:extLst>
      <p:ext uri="{BB962C8B-B14F-4D97-AF65-F5344CB8AC3E}">
        <p14:creationId xmlns:p14="http://schemas.microsoft.com/office/powerpoint/2010/main" val="2326921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F507D-A5FD-5CE5-0961-08473DE3D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4D595A-1CA3-6806-17C7-9E3FDAF367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067EAE-E757-A18E-F8BF-2518A8532F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218141-89D9-42D7-ADDF-9CB76CCFA3C0}" type="datetimeFigureOut">
              <a:rPr lang="en-US" smtClean="0"/>
              <a:t>10/19/2023</a:t>
            </a:fld>
            <a:endParaRPr lang="en-US"/>
          </a:p>
        </p:txBody>
      </p:sp>
      <p:sp>
        <p:nvSpPr>
          <p:cNvPr id="5" name="Footer Placeholder 4">
            <a:extLst>
              <a:ext uri="{FF2B5EF4-FFF2-40B4-BE49-F238E27FC236}">
                <a16:creationId xmlns:a16="http://schemas.microsoft.com/office/drawing/2014/main" id="{1CE90945-CF16-E9E0-97DE-A34BDB771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548348D-7D16-1237-B846-A828314D71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6F60A0-C737-42F5-96D0-0AE44E1E4F82}" type="slidenum">
              <a:rPr lang="en-US" smtClean="0"/>
              <a:t>‹#›</a:t>
            </a:fld>
            <a:endParaRPr lang="en-US"/>
          </a:p>
        </p:txBody>
      </p:sp>
    </p:spTree>
    <p:extLst>
      <p:ext uri="{BB962C8B-B14F-4D97-AF65-F5344CB8AC3E}">
        <p14:creationId xmlns:p14="http://schemas.microsoft.com/office/powerpoint/2010/main" val="3007743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Tabula_recta" TargetMode="External"/><Relationship Id="rId2" Type="http://schemas.openxmlformats.org/officeDocument/2006/relationships/hyperlink" Target="https://en.wikipedia.org/wiki/Keystream"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E57A-4A83-3472-2173-4A03922AFB1B}"/>
              </a:ext>
            </a:extLst>
          </p:cNvPr>
          <p:cNvSpPr>
            <a:spLocks noGrp="1"/>
          </p:cNvSpPr>
          <p:nvPr>
            <p:ph type="ctrTitle"/>
          </p:nvPr>
        </p:nvSpPr>
        <p:spPr>
          <a:xfrm>
            <a:off x="1283854" y="406400"/>
            <a:ext cx="9144000" cy="1012825"/>
          </a:xfrm>
        </p:spPr>
        <p:txBody>
          <a:bodyPr/>
          <a:lstStyle/>
          <a:p>
            <a:pPr algn="l"/>
            <a:r>
              <a:rPr lang="tr-TR" dirty="0"/>
              <a:t>Last week</a:t>
            </a:r>
            <a:endParaRPr lang="en-US" dirty="0"/>
          </a:p>
        </p:txBody>
      </p:sp>
      <p:pic>
        <p:nvPicPr>
          <p:cNvPr id="7" name="Picture 6">
            <a:extLst>
              <a:ext uri="{FF2B5EF4-FFF2-40B4-BE49-F238E27FC236}">
                <a16:creationId xmlns:a16="http://schemas.microsoft.com/office/drawing/2014/main" id="{735E6693-26D2-3BFF-B824-2A3A639249E4}"/>
              </a:ext>
            </a:extLst>
          </p:cNvPr>
          <p:cNvPicPr>
            <a:picLocks noChangeAspect="1"/>
          </p:cNvPicPr>
          <p:nvPr/>
        </p:nvPicPr>
        <p:blipFill>
          <a:blip r:embed="rId2"/>
          <a:stretch>
            <a:fillRect/>
          </a:stretch>
        </p:blipFill>
        <p:spPr>
          <a:xfrm>
            <a:off x="1557337" y="1419225"/>
            <a:ext cx="9077325" cy="4019550"/>
          </a:xfrm>
          <a:prstGeom prst="rect">
            <a:avLst/>
          </a:prstGeom>
        </p:spPr>
      </p:pic>
    </p:spTree>
    <p:extLst>
      <p:ext uri="{BB962C8B-B14F-4D97-AF65-F5344CB8AC3E}">
        <p14:creationId xmlns:p14="http://schemas.microsoft.com/office/powerpoint/2010/main" val="551552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E57A-4A83-3472-2173-4A03922AFB1B}"/>
              </a:ext>
            </a:extLst>
          </p:cNvPr>
          <p:cNvSpPr>
            <a:spLocks noGrp="1"/>
          </p:cNvSpPr>
          <p:nvPr>
            <p:ph type="ctrTitle"/>
          </p:nvPr>
        </p:nvSpPr>
        <p:spPr>
          <a:xfrm>
            <a:off x="1283854" y="406400"/>
            <a:ext cx="9144000" cy="1012825"/>
          </a:xfrm>
        </p:spPr>
        <p:txBody>
          <a:bodyPr/>
          <a:lstStyle/>
          <a:p>
            <a:pPr algn="l"/>
            <a:r>
              <a:rPr lang="tr-TR" dirty="0"/>
              <a:t>Last week</a:t>
            </a:r>
            <a:endParaRPr lang="en-US" dirty="0"/>
          </a:p>
        </p:txBody>
      </p:sp>
      <p:pic>
        <p:nvPicPr>
          <p:cNvPr id="5" name="Picture 4">
            <a:extLst>
              <a:ext uri="{FF2B5EF4-FFF2-40B4-BE49-F238E27FC236}">
                <a16:creationId xmlns:a16="http://schemas.microsoft.com/office/drawing/2014/main" id="{F2942A72-FE56-7C1F-F610-CC91B1F554D4}"/>
              </a:ext>
            </a:extLst>
          </p:cNvPr>
          <p:cNvPicPr>
            <a:picLocks noChangeAspect="1"/>
          </p:cNvPicPr>
          <p:nvPr/>
        </p:nvPicPr>
        <p:blipFill>
          <a:blip r:embed="rId2"/>
          <a:stretch>
            <a:fillRect/>
          </a:stretch>
        </p:blipFill>
        <p:spPr>
          <a:xfrm>
            <a:off x="2056678" y="1489075"/>
            <a:ext cx="9039225" cy="4962525"/>
          </a:xfrm>
          <a:prstGeom prst="rect">
            <a:avLst/>
          </a:prstGeom>
        </p:spPr>
      </p:pic>
    </p:spTree>
    <p:extLst>
      <p:ext uri="{BB962C8B-B14F-4D97-AF65-F5344CB8AC3E}">
        <p14:creationId xmlns:p14="http://schemas.microsoft.com/office/powerpoint/2010/main" val="921514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E57A-4A83-3472-2173-4A03922AFB1B}"/>
              </a:ext>
            </a:extLst>
          </p:cNvPr>
          <p:cNvSpPr>
            <a:spLocks noGrp="1"/>
          </p:cNvSpPr>
          <p:nvPr>
            <p:ph type="ctrTitle"/>
          </p:nvPr>
        </p:nvSpPr>
        <p:spPr>
          <a:xfrm>
            <a:off x="1283854" y="406400"/>
            <a:ext cx="9144000" cy="1012825"/>
          </a:xfrm>
        </p:spPr>
        <p:txBody>
          <a:bodyPr/>
          <a:lstStyle/>
          <a:p>
            <a:pPr algn="l"/>
            <a:r>
              <a:rPr lang="tr-TR" dirty="0"/>
              <a:t>Last week</a:t>
            </a:r>
            <a:endParaRPr lang="en-US" dirty="0"/>
          </a:p>
        </p:txBody>
      </p:sp>
      <p:pic>
        <p:nvPicPr>
          <p:cNvPr id="6" name="Picture 5">
            <a:extLst>
              <a:ext uri="{FF2B5EF4-FFF2-40B4-BE49-F238E27FC236}">
                <a16:creationId xmlns:a16="http://schemas.microsoft.com/office/drawing/2014/main" id="{F03EE468-E243-D0AC-7FCD-F2AB053C3A06}"/>
              </a:ext>
            </a:extLst>
          </p:cNvPr>
          <p:cNvPicPr>
            <a:picLocks noChangeAspect="1"/>
          </p:cNvPicPr>
          <p:nvPr/>
        </p:nvPicPr>
        <p:blipFill>
          <a:blip r:embed="rId2"/>
          <a:stretch>
            <a:fillRect/>
          </a:stretch>
        </p:blipFill>
        <p:spPr>
          <a:xfrm>
            <a:off x="1738312" y="2019300"/>
            <a:ext cx="8715375" cy="2819400"/>
          </a:xfrm>
          <a:prstGeom prst="rect">
            <a:avLst/>
          </a:prstGeom>
        </p:spPr>
      </p:pic>
    </p:spTree>
    <p:extLst>
      <p:ext uri="{BB962C8B-B14F-4D97-AF65-F5344CB8AC3E}">
        <p14:creationId xmlns:p14="http://schemas.microsoft.com/office/powerpoint/2010/main" val="3229819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7" name="Picture 6">
            <a:extLst>
              <a:ext uri="{FF2B5EF4-FFF2-40B4-BE49-F238E27FC236}">
                <a16:creationId xmlns:a16="http://schemas.microsoft.com/office/drawing/2014/main" id="{1575E390-2153-4F29-F50A-BD21009E239A}"/>
              </a:ext>
            </a:extLst>
          </p:cNvPr>
          <p:cNvPicPr>
            <a:picLocks noChangeAspect="1"/>
          </p:cNvPicPr>
          <p:nvPr/>
        </p:nvPicPr>
        <p:blipFill>
          <a:blip r:embed="rId2"/>
          <a:stretch>
            <a:fillRect/>
          </a:stretch>
        </p:blipFill>
        <p:spPr>
          <a:xfrm>
            <a:off x="921327" y="1690688"/>
            <a:ext cx="8686800" cy="3962400"/>
          </a:xfrm>
          <a:prstGeom prst="rect">
            <a:avLst/>
          </a:prstGeom>
        </p:spPr>
      </p:pic>
    </p:spTree>
    <p:extLst>
      <p:ext uri="{BB962C8B-B14F-4D97-AF65-F5344CB8AC3E}">
        <p14:creationId xmlns:p14="http://schemas.microsoft.com/office/powerpoint/2010/main" val="3308380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4" name="Picture 3">
            <a:extLst>
              <a:ext uri="{FF2B5EF4-FFF2-40B4-BE49-F238E27FC236}">
                <a16:creationId xmlns:a16="http://schemas.microsoft.com/office/drawing/2014/main" id="{C5165F26-E3B0-7573-3A53-7939F94E622C}"/>
              </a:ext>
            </a:extLst>
          </p:cNvPr>
          <p:cNvPicPr>
            <a:picLocks noChangeAspect="1"/>
          </p:cNvPicPr>
          <p:nvPr/>
        </p:nvPicPr>
        <p:blipFill>
          <a:blip r:embed="rId2"/>
          <a:stretch>
            <a:fillRect/>
          </a:stretch>
        </p:blipFill>
        <p:spPr>
          <a:xfrm>
            <a:off x="1223962" y="1339273"/>
            <a:ext cx="9744075" cy="5190114"/>
          </a:xfrm>
          <a:prstGeom prst="rect">
            <a:avLst/>
          </a:prstGeom>
        </p:spPr>
      </p:pic>
    </p:spTree>
    <p:extLst>
      <p:ext uri="{BB962C8B-B14F-4D97-AF65-F5344CB8AC3E}">
        <p14:creationId xmlns:p14="http://schemas.microsoft.com/office/powerpoint/2010/main" val="69394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5" name="Picture 4">
            <a:extLst>
              <a:ext uri="{FF2B5EF4-FFF2-40B4-BE49-F238E27FC236}">
                <a16:creationId xmlns:a16="http://schemas.microsoft.com/office/drawing/2014/main" id="{11E05DBD-A95B-2FD4-4EFA-CC6C2D9FCF9B}"/>
              </a:ext>
            </a:extLst>
          </p:cNvPr>
          <p:cNvPicPr>
            <a:picLocks noChangeAspect="1"/>
          </p:cNvPicPr>
          <p:nvPr/>
        </p:nvPicPr>
        <p:blipFill>
          <a:blip r:embed="rId2"/>
          <a:stretch>
            <a:fillRect/>
          </a:stretch>
        </p:blipFill>
        <p:spPr>
          <a:xfrm>
            <a:off x="1351540" y="1805853"/>
            <a:ext cx="9248775" cy="3800475"/>
          </a:xfrm>
          <a:prstGeom prst="rect">
            <a:avLst/>
          </a:prstGeom>
        </p:spPr>
      </p:pic>
    </p:spTree>
    <p:extLst>
      <p:ext uri="{BB962C8B-B14F-4D97-AF65-F5344CB8AC3E}">
        <p14:creationId xmlns:p14="http://schemas.microsoft.com/office/powerpoint/2010/main" val="2024587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5" name="Picture 4">
            <a:extLst>
              <a:ext uri="{FF2B5EF4-FFF2-40B4-BE49-F238E27FC236}">
                <a16:creationId xmlns:a16="http://schemas.microsoft.com/office/drawing/2014/main" id="{6CAF1200-E5F5-E08F-521B-4F6AEFB15421}"/>
              </a:ext>
            </a:extLst>
          </p:cNvPr>
          <p:cNvPicPr>
            <a:picLocks noChangeAspect="1"/>
          </p:cNvPicPr>
          <p:nvPr/>
        </p:nvPicPr>
        <p:blipFill>
          <a:blip r:embed="rId2"/>
          <a:stretch>
            <a:fillRect/>
          </a:stretch>
        </p:blipFill>
        <p:spPr>
          <a:xfrm>
            <a:off x="838200" y="1488209"/>
            <a:ext cx="8782050" cy="5026169"/>
          </a:xfrm>
          <a:prstGeom prst="rect">
            <a:avLst/>
          </a:prstGeom>
        </p:spPr>
      </p:pic>
    </p:spTree>
    <p:extLst>
      <p:ext uri="{BB962C8B-B14F-4D97-AF65-F5344CB8AC3E}">
        <p14:creationId xmlns:p14="http://schemas.microsoft.com/office/powerpoint/2010/main" val="629089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4" name="Picture 3">
            <a:extLst>
              <a:ext uri="{FF2B5EF4-FFF2-40B4-BE49-F238E27FC236}">
                <a16:creationId xmlns:a16="http://schemas.microsoft.com/office/drawing/2014/main" id="{B34C02BD-B0A5-F08A-DD74-061E2FA5DD7A}"/>
              </a:ext>
            </a:extLst>
          </p:cNvPr>
          <p:cNvPicPr>
            <a:picLocks noChangeAspect="1"/>
          </p:cNvPicPr>
          <p:nvPr/>
        </p:nvPicPr>
        <p:blipFill>
          <a:blip r:embed="rId2"/>
          <a:stretch>
            <a:fillRect/>
          </a:stretch>
        </p:blipFill>
        <p:spPr>
          <a:xfrm>
            <a:off x="731259" y="1540308"/>
            <a:ext cx="8734425" cy="4867275"/>
          </a:xfrm>
          <a:prstGeom prst="rect">
            <a:avLst/>
          </a:prstGeom>
        </p:spPr>
      </p:pic>
    </p:spTree>
    <p:extLst>
      <p:ext uri="{BB962C8B-B14F-4D97-AF65-F5344CB8AC3E}">
        <p14:creationId xmlns:p14="http://schemas.microsoft.com/office/powerpoint/2010/main" val="2448966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5" name="Picture 4">
            <a:extLst>
              <a:ext uri="{FF2B5EF4-FFF2-40B4-BE49-F238E27FC236}">
                <a16:creationId xmlns:a16="http://schemas.microsoft.com/office/drawing/2014/main" id="{E93B9553-A540-0489-9285-E2FBA8484F91}"/>
              </a:ext>
            </a:extLst>
          </p:cNvPr>
          <p:cNvPicPr>
            <a:picLocks noChangeAspect="1"/>
          </p:cNvPicPr>
          <p:nvPr/>
        </p:nvPicPr>
        <p:blipFill>
          <a:blip r:embed="rId2"/>
          <a:stretch>
            <a:fillRect/>
          </a:stretch>
        </p:blipFill>
        <p:spPr>
          <a:xfrm>
            <a:off x="838200" y="1873564"/>
            <a:ext cx="7791450" cy="3124200"/>
          </a:xfrm>
          <a:prstGeom prst="rect">
            <a:avLst/>
          </a:prstGeom>
        </p:spPr>
      </p:pic>
    </p:spTree>
    <p:extLst>
      <p:ext uri="{BB962C8B-B14F-4D97-AF65-F5344CB8AC3E}">
        <p14:creationId xmlns:p14="http://schemas.microsoft.com/office/powerpoint/2010/main" val="180838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4" name="Picture 3">
            <a:extLst>
              <a:ext uri="{FF2B5EF4-FFF2-40B4-BE49-F238E27FC236}">
                <a16:creationId xmlns:a16="http://schemas.microsoft.com/office/drawing/2014/main" id="{FEB7B207-CBDE-A4E9-C22E-B5CB04729B67}"/>
              </a:ext>
            </a:extLst>
          </p:cNvPr>
          <p:cNvPicPr>
            <a:picLocks noChangeAspect="1"/>
          </p:cNvPicPr>
          <p:nvPr/>
        </p:nvPicPr>
        <p:blipFill>
          <a:blip r:embed="rId2"/>
          <a:stretch>
            <a:fillRect/>
          </a:stretch>
        </p:blipFill>
        <p:spPr>
          <a:xfrm>
            <a:off x="1264011" y="1274618"/>
            <a:ext cx="9663978" cy="5583382"/>
          </a:xfrm>
          <a:prstGeom prst="rect">
            <a:avLst/>
          </a:prstGeom>
        </p:spPr>
      </p:pic>
    </p:spTree>
    <p:extLst>
      <p:ext uri="{BB962C8B-B14F-4D97-AF65-F5344CB8AC3E}">
        <p14:creationId xmlns:p14="http://schemas.microsoft.com/office/powerpoint/2010/main" val="1921769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sp>
        <p:nvSpPr>
          <p:cNvPr id="5" name="TextBox 4">
            <a:extLst>
              <a:ext uri="{FF2B5EF4-FFF2-40B4-BE49-F238E27FC236}">
                <a16:creationId xmlns:a16="http://schemas.microsoft.com/office/drawing/2014/main" id="{0E0B4223-AC3D-DE4A-2572-C9A06BF01601}"/>
              </a:ext>
            </a:extLst>
          </p:cNvPr>
          <p:cNvSpPr txBox="1"/>
          <p:nvPr/>
        </p:nvSpPr>
        <p:spPr>
          <a:xfrm>
            <a:off x="628073" y="6123543"/>
            <a:ext cx="6096000" cy="369332"/>
          </a:xfrm>
          <a:prstGeom prst="rect">
            <a:avLst/>
          </a:prstGeom>
          <a:noFill/>
        </p:spPr>
        <p:txBody>
          <a:bodyPr wrap="square">
            <a:spAutoFit/>
          </a:bodyPr>
          <a:lstStyle/>
          <a:p>
            <a:r>
              <a:rPr lang="en-US" sz="1800" dirty="0">
                <a:solidFill>
                  <a:srgbClr val="000000"/>
                </a:solidFill>
                <a:latin typeface="Adobe Clean DC"/>
              </a:rPr>
              <a:t>https://en.wikipedia.org/wiki/Autokey_cipher</a:t>
            </a:r>
            <a:endParaRPr lang="en-US" sz="1800" dirty="0">
              <a:solidFill>
                <a:prstClr val="black"/>
              </a:solidFill>
              <a:latin typeface="Adobe Clean DC"/>
            </a:endParaRPr>
          </a:p>
        </p:txBody>
      </p:sp>
      <p:sp>
        <p:nvSpPr>
          <p:cNvPr id="7" name="TextBox 6">
            <a:extLst>
              <a:ext uri="{FF2B5EF4-FFF2-40B4-BE49-F238E27FC236}">
                <a16:creationId xmlns:a16="http://schemas.microsoft.com/office/drawing/2014/main" id="{16400FB6-0D81-5E9B-7CB9-57D51CA50511}"/>
              </a:ext>
            </a:extLst>
          </p:cNvPr>
          <p:cNvSpPr txBox="1"/>
          <p:nvPr/>
        </p:nvSpPr>
        <p:spPr>
          <a:xfrm>
            <a:off x="773545" y="1967492"/>
            <a:ext cx="8183418" cy="1200329"/>
          </a:xfrm>
          <a:prstGeom prst="rect">
            <a:avLst/>
          </a:prstGeom>
          <a:noFill/>
        </p:spPr>
        <p:txBody>
          <a:bodyPr wrap="square">
            <a:spAutoFit/>
          </a:bodyPr>
          <a:lstStyle/>
          <a:p>
            <a:r>
              <a:rPr lang="en-US" b="0" i="0" dirty="0">
                <a:solidFill>
                  <a:srgbClr val="202122"/>
                </a:solidFill>
                <a:effectLst/>
                <a:latin typeface="Arial" panose="020B0604020202020204" pitchFamily="34" charset="0"/>
              </a:rPr>
              <a:t>There are two forms of autokey cipher: </a:t>
            </a:r>
            <a:r>
              <a:rPr lang="en-US" b="0" i="1" dirty="0">
                <a:solidFill>
                  <a:srgbClr val="202122"/>
                </a:solidFill>
                <a:effectLst/>
                <a:latin typeface="Arial" panose="020B0604020202020204" pitchFamily="34" charset="0"/>
              </a:rPr>
              <a:t>key-autokey</a:t>
            </a:r>
            <a:r>
              <a:rPr lang="en-US" b="0" i="0" dirty="0">
                <a:solidFill>
                  <a:srgbClr val="202122"/>
                </a:solidFill>
                <a:effectLst/>
                <a:latin typeface="Arial" panose="020B0604020202020204" pitchFamily="34" charset="0"/>
              </a:rPr>
              <a:t> and </a:t>
            </a:r>
            <a:r>
              <a:rPr lang="en-US" b="0" i="1" dirty="0">
                <a:solidFill>
                  <a:srgbClr val="202122"/>
                </a:solidFill>
                <a:effectLst/>
                <a:latin typeface="Arial" panose="020B0604020202020204" pitchFamily="34" charset="0"/>
              </a:rPr>
              <a:t>text-autokey</a:t>
            </a:r>
            <a:r>
              <a:rPr lang="en-US" b="0" i="0" dirty="0">
                <a:solidFill>
                  <a:srgbClr val="202122"/>
                </a:solidFill>
                <a:effectLst/>
                <a:latin typeface="Arial" panose="020B0604020202020204" pitchFamily="34" charset="0"/>
              </a:rPr>
              <a:t> ciphers. A key-autokey cipher uses previous members of the </a:t>
            </a:r>
            <a:r>
              <a:rPr lang="en-US" b="0" i="0" u="none" strike="noStrike" dirty="0">
                <a:solidFill>
                  <a:srgbClr val="3366CC"/>
                </a:solidFill>
                <a:effectLst/>
                <a:latin typeface="Arial" panose="020B0604020202020204" pitchFamily="34" charset="0"/>
                <a:hlinkClick r:id="rId2" tooltip="Keystream"/>
              </a:rPr>
              <a:t>keystream</a:t>
            </a:r>
            <a:r>
              <a:rPr lang="en-US" b="0" i="0" dirty="0">
                <a:solidFill>
                  <a:srgbClr val="202122"/>
                </a:solidFill>
                <a:effectLst/>
                <a:latin typeface="Arial" panose="020B0604020202020204" pitchFamily="34" charset="0"/>
              </a:rPr>
              <a:t> to determine the next element in the keystream. A text-autokey uses the previous message text to determine the next element in the keystream.</a:t>
            </a:r>
            <a:endParaRPr lang="en-US" dirty="0"/>
          </a:p>
        </p:txBody>
      </p:sp>
      <p:sp>
        <p:nvSpPr>
          <p:cNvPr id="9" name="TextBox 8">
            <a:extLst>
              <a:ext uri="{FF2B5EF4-FFF2-40B4-BE49-F238E27FC236}">
                <a16:creationId xmlns:a16="http://schemas.microsoft.com/office/drawing/2014/main" id="{7777B6E9-EA23-E10C-4CD2-6A758F038057}"/>
              </a:ext>
            </a:extLst>
          </p:cNvPr>
          <p:cNvSpPr txBox="1"/>
          <p:nvPr/>
        </p:nvSpPr>
        <p:spPr>
          <a:xfrm>
            <a:off x="773545" y="3167821"/>
            <a:ext cx="7816274" cy="2585323"/>
          </a:xfrm>
          <a:prstGeom prst="rect">
            <a:avLst/>
          </a:prstGeom>
          <a:noFill/>
        </p:spPr>
        <p:txBody>
          <a:bodyPr wrap="square">
            <a:spAutoFit/>
          </a:bodyPr>
          <a:lstStyle/>
          <a:p>
            <a:r>
              <a:rPr lang="en-US" b="0" i="0" dirty="0">
                <a:solidFill>
                  <a:srgbClr val="202122"/>
                </a:solidFill>
                <a:effectLst/>
                <a:latin typeface="Arial" panose="020B0604020202020204" pitchFamily="34" charset="0"/>
              </a:rPr>
              <a:t>More popular </a:t>
            </a:r>
            <a:r>
              <a:rPr lang="en-US" b="0" i="0" dirty="0" err="1">
                <a:solidFill>
                  <a:srgbClr val="202122"/>
                </a:solidFill>
                <a:effectLst/>
                <a:latin typeface="Arial" panose="020B0604020202020204" pitchFamily="34" charset="0"/>
              </a:rPr>
              <a:t>autokeys</a:t>
            </a:r>
            <a:r>
              <a:rPr lang="en-US" b="0" i="0" dirty="0">
                <a:solidFill>
                  <a:srgbClr val="202122"/>
                </a:solidFill>
                <a:effectLst/>
                <a:latin typeface="Arial" panose="020B0604020202020204" pitchFamily="34" charset="0"/>
              </a:rPr>
              <a:t> use a </a:t>
            </a:r>
            <a:r>
              <a:rPr lang="en-US" b="0" i="0" u="none" strike="noStrike" dirty="0">
                <a:solidFill>
                  <a:srgbClr val="3366CC"/>
                </a:solidFill>
                <a:effectLst/>
                <a:latin typeface="Arial" panose="020B0604020202020204" pitchFamily="34" charset="0"/>
                <a:hlinkClick r:id="rId3" tooltip="Tabula recta"/>
              </a:rPr>
              <a:t>tabula recta</a:t>
            </a:r>
            <a:r>
              <a:rPr lang="en-US" b="0" i="0" dirty="0">
                <a:solidFill>
                  <a:srgbClr val="202122"/>
                </a:solidFill>
                <a:effectLst/>
                <a:latin typeface="Arial" panose="020B0604020202020204" pitchFamily="34" charset="0"/>
              </a:rPr>
              <a:t>, a square with 26 copies of the alphabet, the first line starting with 'A', the next line starting with 'B' etc. Instead of a single letter, a short agreed-upon keyword is used, and the key is generated by writing down the primer and then the rest of the message, as in Vigenère's version. </a:t>
            </a:r>
            <a:endParaRPr lang="tr-TR" b="0" i="0" dirty="0">
              <a:solidFill>
                <a:srgbClr val="202122"/>
              </a:solidFill>
              <a:effectLst/>
              <a:latin typeface="Arial" panose="020B0604020202020204" pitchFamily="34" charset="0"/>
            </a:endParaRPr>
          </a:p>
          <a:p>
            <a:endParaRPr lang="tr-TR" dirty="0">
              <a:solidFill>
                <a:srgbClr val="202122"/>
              </a:solidFill>
              <a:latin typeface="Arial" panose="020B0604020202020204" pitchFamily="34" charset="0"/>
            </a:endParaRPr>
          </a:p>
          <a:p>
            <a:r>
              <a:rPr lang="en-US" b="0" i="0" dirty="0">
                <a:solidFill>
                  <a:srgbClr val="202122"/>
                </a:solidFill>
                <a:effectLst/>
                <a:latin typeface="Arial" panose="020B0604020202020204" pitchFamily="34" charset="0"/>
              </a:rPr>
              <a:t>To encrypt a plaintext, the row with the first letter of the message and the column with the first letter of the key are located. The letter in which the row and the column cross is the ciphertext letter.</a:t>
            </a:r>
            <a:endParaRPr lang="en-US" dirty="0"/>
          </a:p>
        </p:txBody>
      </p:sp>
      <p:sp>
        <p:nvSpPr>
          <p:cNvPr id="11" name="TextBox 10">
            <a:extLst>
              <a:ext uri="{FF2B5EF4-FFF2-40B4-BE49-F238E27FC236}">
                <a16:creationId xmlns:a16="http://schemas.microsoft.com/office/drawing/2014/main" id="{B1D1185A-B6BD-136A-4349-AB029F04782D}"/>
              </a:ext>
            </a:extLst>
          </p:cNvPr>
          <p:cNvSpPr txBox="1"/>
          <p:nvPr/>
        </p:nvSpPr>
        <p:spPr>
          <a:xfrm>
            <a:off x="773545" y="1459758"/>
            <a:ext cx="6096000" cy="369332"/>
          </a:xfrm>
          <a:prstGeom prst="rect">
            <a:avLst/>
          </a:prstGeom>
          <a:noFill/>
        </p:spPr>
        <p:txBody>
          <a:bodyPr wrap="square">
            <a:spAutoFit/>
          </a:bodyPr>
          <a:lstStyle/>
          <a:p>
            <a:r>
              <a:rPr lang="tr-TR" b="1" i="0" dirty="0">
                <a:solidFill>
                  <a:srgbClr val="202122"/>
                </a:solidFill>
                <a:effectLst/>
                <a:latin typeface="Arial" panose="020B0604020202020204" pitchFamily="34" charset="0"/>
              </a:rPr>
              <a:t>TYPES OF AUTOKEY CHIPER</a:t>
            </a:r>
            <a:endParaRPr lang="en-US" b="1" dirty="0"/>
          </a:p>
        </p:txBody>
      </p:sp>
      <p:pic>
        <p:nvPicPr>
          <p:cNvPr id="1026" name="Picture 2">
            <a:extLst>
              <a:ext uri="{FF2B5EF4-FFF2-40B4-BE49-F238E27FC236}">
                <a16:creationId xmlns:a16="http://schemas.microsoft.com/office/drawing/2014/main" id="{B99EF3B3-83D2-477D-C0A2-FA77DD5201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6963" y="1870941"/>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124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sp>
        <p:nvSpPr>
          <p:cNvPr id="5" name="TextBox 4">
            <a:extLst>
              <a:ext uri="{FF2B5EF4-FFF2-40B4-BE49-F238E27FC236}">
                <a16:creationId xmlns:a16="http://schemas.microsoft.com/office/drawing/2014/main" id="{0E0B4223-AC3D-DE4A-2572-C9A06BF01601}"/>
              </a:ext>
            </a:extLst>
          </p:cNvPr>
          <p:cNvSpPr txBox="1"/>
          <p:nvPr/>
        </p:nvSpPr>
        <p:spPr>
          <a:xfrm>
            <a:off x="628073" y="6123543"/>
            <a:ext cx="6096000" cy="369332"/>
          </a:xfrm>
          <a:prstGeom prst="rect">
            <a:avLst/>
          </a:prstGeom>
          <a:noFill/>
        </p:spPr>
        <p:txBody>
          <a:bodyPr wrap="square">
            <a:spAutoFit/>
          </a:bodyPr>
          <a:lstStyle/>
          <a:p>
            <a:r>
              <a:rPr lang="en-US" sz="1800" dirty="0">
                <a:solidFill>
                  <a:srgbClr val="000000"/>
                </a:solidFill>
                <a:latin typeface="Adobe Clean DC"/>
              </a:rPr>
              <a:t>https://en.wikipedia.org/wiki/Autokey_cipher</a:t>
            </a:r>
            <a:endParaRPr lang="en-US" sz="1800" dirty="0">
              <a:solidFill>
                <a:prstClr val="black"/>
              </a:solidFill>
              <a:latin typeface="Adobe Clean DC"/>
            </a:endParaRPr>
          </a:p>
        </p:txBody>
      </p:sp>
      <p:sp>
        <p:nvSpPr>
          <p:cNvPr id="11" name="TextBox 10">
            <a:extLst>
              <a:ext uri="{FF2B5EF4-FFF2-40B4-BE49-F238E27FC236}">
                <a16:creationId xmlns:a16="http://schemas.microsoft.com/office/drawing/2014/main" id="{B1D1185A-B6BD-136A-4349-AB029F04782D}"/>
              </a:ext>
            </a:extLst>
          </p:cNvPr>
          <p:cNvSpPr txBox="1"/>
          <p:nvPr/>
        </p:nvSpPr>
        <p:spPr>
          <a:xfrm>
            <a:off x="773545" y="1459758"/>
            <a:ext cx="6096000" cy="369332"/>
          </a:xfrm>
          <a:prstGeom prst="rect">
            <a:avLst/>
          </a:prstGeom>
          <a:noFill/>
        </p:spPr>
        <p:txBody>
          <a:bodyPr wrap="square">
            <a:spAutoFit/>
          </a:bodyPr>
          <a:lstStyle/>
          <a:p>
            <a:r>
              <a:rPr lang="tr-TR" b="1" i="0" dirty="0">
                <a:solidFill>
                  <a:srgbClr val="202122"/>
                </a:solidFill>
                <a:effectLst/>
                <a:latin typeface="Arial" panose="020B0604020202020204" pitchFamily="34" charset="0"/>
              </a:rPr>
              <a:t>TYPES OF AUTOKEY CHIPER</a:t>
            </a:r>
            <a:endParaRPr lang="en-US" b="1" dirty="0"/>
          </a:p>
        </p:txBody>
      </p:sp>
      <p:pic>
        <p:nvPicPr>
          <p:cNvPr id="1026" name="Picture 2">
            <a:extLst>
              <a:ext uri="{FF2B5EF4-FFF2-40B4-BE49-F238E27FC236}">
                <a16:creationId xmlns:a16="http://schemas.microsoft.com/office/drawing/2014/main" id="{B99EF3B3-83D2-477D-C0A2-FA77DD5201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8495" y="1870941"/>
            <a:ext cx="4455968" cy="445596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A537D6A-08A5-EC7A-2FB3-AFA886A076E7}"/>
              </a:ext>
            </a:extLst>
          </p:cNvPr>
          <p:cNvSpPr txBox="1"/>
          <p:nvPr/>
        </p:nvSpPr>
        <p:spPr>
          <a:xfrm>
            <a:off x="535709" y="1870941"/>
            <a:ext cx="6567055" cy="4524315"/>
          </a:xfrm>
          <a:prstGeom prst="rect">
            <a:avLst/>
          </a:prstGeom>
          <a:noFill/>
        </p:spPr>
        <p:txBody>
          <a:bodyPr wrap="square">
            <a:spAutoFit/>
          </a:bodyPr>
          <a:lstStyle/>
          <a:p>
            <a:r>
              <a:rPr lang="en-US" dirty="0"/>
              <a:t>Method</a:t>
            </a:r>
          </a:p>
          <a:p>
            <a:r>
              <a:rPr lang="en-US" dirty="0"/>
              <a:t>The autokey cipher, as used by members of the American Cryptogram Association, starts with a relatively-short keyword, the primer, and appends the message to it. </a:t>
            </a:r>
            <a:endParaRPr lang="tr-TR" dirty="0"/>
          </a:p>
          <a:p>
            <a:endParaRPr lang="tr-TR" dirty="0"/>
          </a:p>
          <a:p>
            <a:r>
              <a:rPr lang="en-US" dirty="0"/>
              <a:t>For example, if the keyword is </a:t>
            </a:r>
            <a:r>
              <a:rPr lang="en-US" dirty="0">
                <a:solidFill>
                  <a:srgbClr val="FF0000"/>
                </a:solidFill>
              </a:rPr>
              <a:t>QUEENLY</a:t>
            </a:r>
            <a:r>
              <a:rPr lang="en-US" dirty="0"/>
              <a:t> and </a:t>
            </a:r>
            <a:endParaRPr lang="tr-TR" dirty="0"/>
          </a:p>
          <a:p>
            <a:r>
              <a:rPr lang="en-US" dirty="0"/>
              <a:t>the message is </a:t>
            </a:r>
            <a:r>
              <a:rPr lang="en-US" dirty="0">
                <a:solidFill>
                  <a:srgbClr val="FF0000"/>
                </a:solidFill>
              </a:rPr>
              <a:t>attack at dawn</a:t>
            </a:r>
            <a:r>
              <a:rPr lang="en-US" dirty="0"/>
              <a:t>,</a:t>
            </a:r>
            <a:endParaRPr lang="tr-TR" dirty="0"/>
          </a:p>
          <a:p>
            <a:r>
              <a:rPr lang="en-US" dirty="0"/>
              <a:t> then the key would be </a:t>
            </a:r>
            <a:r>
              <a:rPr lang="en-US" dirty="0">
                <a:solidFill>
                  <a:srgbClr val="FF0000"/>
                </a:solidFill>
              </a:rPr>
              <a:t>QUEENLYATTACKATDAWN</a:t>
            </a:r>
          </a:p>
          <a:p>
            <a:endParaRPr lang="en-US" dirty="0"/>
          </a:p>
          <a:p>
            <a:r>
              <a:rPr lang="en-US" dirty="0"/>
              <a:t>Plaintext:  </a:t>
            </a:r>
            <a:r>
              <a:rPr lang="en-US" dirty="0" err="1">
                <a:solidFill>
                  <a:srgbClr val="FF0000"/>
                </a:solidFill>
              </a:rPr>
              <a:t>attackatdawn</a:t>
            </a:r>
            <a:endParaRPr lang="en-US" dirty="0">
              <a:solidFill>
                <a:srgbClr val="FF0000"/>
              </a:solidFill>
            </a:endParaRPr>
          </a:p>
          <a:p>
            <a:r>
              <a:rPr lang="en-US" dirty="0"/>
              <a:t>Key:        </a:t>
            </a:r>
            <a:r>
              <a:rPr lang="en-US" dirty="0">
                <a:solidFill>
                  <a:srgbClr val="FF0000"/>
                </a:solidFill>
              </a:rPr>
              <a:t>QUEENLYATTACKATDAWN</a:t>
            </a:r>
          </a:p>
          <a:p>
            <a:r>
              <a:rPr lang="en-US" dirty="0"/>
              <a:t>Ciphertext: </a:t>
            </a:r>
            <a:r>
              <a:rPr lang="en-US" dirty="0">
                <a:solidFill>
                  <a:srgbClr val="FF0000"/>
                </a:solidFill>
              </a:rPr>
              <a:t>QNXEPVYTWTWP</a:t>
            </a:r>
          </a:p>
          <a:p>
            <a:endParaRPr lang="tr-TR" dirty="0"/>
          </a:p>
          <a:p>
            <a:r>
              <a:rPr lang="en-US" dirty="0"/>
              <a:t>The ciphertext message would thus be "QNXEPVYTWTWP".</a:t>
            </a:r>
          </a:p>
          <a:p>
            <a:endParaRPr lang="en-US" dirty="0"/>
          </a:p>
          <a:p>
            <a:endParaRPr lang="en-US" dirty="0"/>
          </a:p>
        </p:txBody>
      </p:sp>
    </p:spTree>
    <p:extLst>
      <p:ext uri="{BB962C8B-B14F-4D97-AF65-F5344CB8AC3E}">
        <p14:creationId xmlns:p14="http://schemas.microsoft.com/office/powerpoint/2010/main" val="3698174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sp>
        <p:nvSpPr>
          <p:cNvPr id="5" name="TextBox 4">
            <a:extLst>
              <a:ext uri="{FF2B5EF4-FFF2-40B4-BE49-F238E27FC236}">
                <a16:creationId xmlns:a16="http://schemas.microsoft.com/office/drawing/2014/main" id="{0E0B4223-AC3D-DE4A-2572-C9A06BF01601}"/>
              </a:ext>
            </a:extLst>
          </p:cNvPr>
          <p:cNvSpPr txBox="1"/>
          <p:nvPr/>
        </p:nvSpPr>
        <p:spPr>
          <a:xfrm>
            <a:off x="628073" y="6123543"/>
            <a:ext cx="6096000" cy="369332"/>
          </a:xfrm>
          <a:prstGeom prst="rect">
            <a:avLst/>
          </a:prstGeom>
          <a:noFill/>
        </p:spPr>
        <p:txBody>
          <a:bodyPr wrap="square">
            <a:spAutoFit/>
          </a:bodyPr>
          <a:lstStyle/>
          <a:p>
            <a:r>
              <a:rPr lang="en-US" sz="1800" dirty="0">
                <a:solidFill>
                  <a:srgbClr val="000000"/>
                </a:solidFill>
                <a:latin typeface="Adobe Clean DC"/>
              </a:rPr>
              <a:t>https://en.wikipedia.org/wiki/Autokey_cipher</a:t>
            </a:r>
            <a:endParaRPr lang="en-US" sz="1800" dirty="0">
              <a:solidFill>
                <a:prstClr val="black"/>
              </a:solidFill>
              <a:latin typeface="Adobe Clean DC"/>
            </a:endParaRPr>
          </a:p>
        </p:txBody>
      </p:sp>
      <p:sp>
        <p:nvSpPr>
          <p:cNvPr id="11" name="TextBox 10">
            <a:extLst>
              <a:ext uri="{FF2B5EF4-FFF2-40B4-BE49-F238E27FC236}">
                <a16:creationId xmlns:a16="http://schemas.microsoft.com/office/drawing/2014/main" id="{B1D1185A-B6BD-136A-4349-AB029F04782D}"/>
              </a:ext>
            </a:extLst>
          </p:cNvPr>
          <p:cNvSpPr txBox="1"/>
          <p:nvPr/>
        </p:nvSpPr>
        <p:spPr>
          <a:xfrm>
            <a:off x="773545" y="1459758"/>
            <a:ext cx="6096000" cy="369332"/>
          </a:xfrm>
          <a:prstGeom prst="rect">
            <a:avLst/>
          </a:prstGeom>
          <a:noFill/>
        </p:spPr>
        <p:txBody>
          <a:bodyPr wrap="square">
            <a:spAutoFit/>
          </a:bodyPr>
          <a:lstStyle/>
          <a:p>
            <a:r>
              <a:rPr lang="tr-TR" b="1" i="0" dirty="0">
                <a:solidFill>
                  <a:srgbClr val="202122"/>
                </a:solidFill>
                <a:effectLst/>
                <a:latin typeface="Arial" panose="020B0604020202020204" pitchFamily="34" charset="0"/>
              </a:rPr>
              <a:t>TYPES OF AUTOKEY CHIPER</a:t>
            </a:r>
            <a:endParaRPr lang="en-US" b="1" dirty="0"/>
          </a:p>
        </p:txBody>
      </p:sp>
      <p:pic>
        <p:nvPicPr>
          <p:cNvPr id="1026" name="Picture 2">
            <a:extLst>
              <a:ext uri="{FF2B5EF4-FFF2-40B4-BE49-F238E27FC236}">
                <a16:creationId xmlns:a16="http://schemas.microsoft.com/office/drawing/2014/main" id="{B99EF3B3-83D2-477D-C0A2-FA77DD5201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3745" y="1870941"/>
            <a:ext cx="4360718" cy="436071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A537D6A-08A5-EC7A-2FB3-AFA886A076E7}"/>
              </a:ext>
            </a:extLst>
          </p:cNvPr>
          <p:cNvSpPr txBox="1"/>
          <p:nvPr/>
        </p:nvSpPr>
        <p:spPr>
          <a:xfrm>
            <a:off x="480291" y="-1185339"/>
            <a:ext cx="6788727" cy="7848302"/>
          </a:xfrm>
          <a:prstGeom prst="rect">
            <a:avLst/>
          </a:prstGeom>
          <a:noFill/>
        </p:spPr>
        <p:txBody>
          <a:bodyPr wrap="square">
            <a:spAutoFit/>
          </a:bodyPr>
          <a:lstStyle/>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en-US" dirty="0"/>
          </a:p>
          <a:p>
            <a:r>
              <a:rPr lang="en-US" dirty="0"/>
              <a:t>To decrypt the message, the recipient would start by writing down the agreed-upon keyword.</a:t>
            </a:r>
          </a:p>
          <a:p>
            <a:endParaRPr lang="tr-TR" dirty="0"/>
          </a:p>
          <a:p>
            <a:r>
              <a:rPr lang="en-US" dirty="0">
                <a:solidFill>
                  <a:srgbClr val="FF0000"/>
                </a:solidFill>
              </a:rPr>
              <a:t>QNXEPVYTWTWP</a:t>
            </a:r>
          </a:p>
          <a:p>
            <a:r>
              <a:rPr lang="en-US" dirty="0">
                <a:solidFill>
                  <a:srgbClr val="FF0000"/>
                </a:solidFill>
              </a:rPr>
              <a:t>QUEENLY</a:t>
            </a:r>
            <a:endParaRPr lang="tr-TR" dirty="0">
              <a:solidFill>
                <a:srgbClr val="FF0000"/>
              </a:solidFill>
            </a:endParaRPr>
          </a:p>
          <a:p>
            <a:endParaRPr lang="en-US" dirty="0">
              <a:solidFill>
                <a:srgbClr val="FF0000"/>
              </a:solidFill>
            </a:endParaRPr>
          </a:p>
          <a:p>
            <a:r>
              <a:rPr lang="en-US" dirty="0"/>
              <a:t>The first letter of the key, </a:t>
            </a:r>
            <a:r>
              <a:rPr lang="en-US" dirty="0">
                <a:solidFill>
                  <a:srgbClr val="FF0000"/>
                </a:solidFill>
              </a:rPr>
              <a:t>Q</a:t>
            </a:r>
            <a:r>
              <a:rPr lang="en-US" dirty="0"/>
              <a:t>, would then be taken, and that row would be found in a tabula recta. </a:t>
            </a:r>
            <a:endParaRPr lang="tr-TR" dirty="0"/>
          </a:p>
          <a:p>
            <a:r>
              <a:rPr lang="en-US" dirty="0"/>
              <a:t>That column for the first letter of the ciphertext would be looked across, also </a:t>
            </a:r>
            <a:r>
              <a:rPr lang="en-US" dirty="0">
                <a:solidFill>
                  <a:srgbClr val="FF0000"/>
                </a:solidFill>
              </a:rPr>
              <a:t>Q</a:t>
            </a:r>
            <a:r>
              <a:rPr lang="en-US" dirty="0"/>
              <a:t> in this case, and the letter to the top would be retrieved, </a:t>
            </a:r>
            <a:r>
              <a:rPr lang="en-US" dirty="0">
                <a:solidFill>
                  <a:srgbClr val="FF0000"/>
                </a:solidFill>
              </a:rPr>
              <a:t>A. </a:t>
            </a:r>
            <a:endParaRPr lang="tr-TR" dirty="0">
              <a:solidFill>
                <a:srgbClr val="FF0000"/>
              </a:solidFill>
            </a:endParaRPr>
          </a:p>
          <a:p>
            <a:r>
              <a:rPr lang="en-US" dirty="0"/>
              <a:t>Now, that letter would be added to the end of the key:</a:t>
            </a:r>
          </a:p>
          <a:p>
            <a:endParaRPr lang="en-US" dirty="0"/>
          </a:p>
          <a:p>
            <a:r>
              <a:rPr lang="en-US" dirty="0">
                <a:solidFill>
                  <a:srgbClr val="FF0000"/>
                </a:solidFill>
              </a:rPr>
              <a:t>QNXEPVYTWTWP</a:t>
            </a:r>
          </a:p>
          <a:p>
            <a:r>
              <a:rPr lang="en-US" dirty="0">
                <a:solidFill>
                  <a:srgbClr val="FF0000"/>
                </a:solidFill>
              </a:rPr>
              <a:t>QUEENLYA</a:t>
            </a:r>
          </a:p>
          <a:p>
            <a:r>
              <a:rPr lang="en-US" dirty="0">
                <a:solidFill>
                  <a:srgbClr val="FF0000"/>
                </a:solidFill>
              </a:rPr>
              <a:t>a</a:t>
            </a:r>
          </a:p>
          <a:p>
            <a:endParaRPr lang="en-US" dirty="0"/>
          </a:p>
        </p:txBody>
      </p:sp>
    </p:spTree>
    <p:extLst>
      <p:ext uri="{BB962C8B-B14F-4D97-AF65-F5344CB8AC3E}">
        <p14:creationId xmlns:p14="http://schemas.microsoft.com/office/powerpoint/2010/main" val="1028022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sp>
        <p:nvSpPr>
          <p:cNvPr id="5" name="TextBox 4">
            <a:extLst>
              <a:ext uri="{FF2B5EF4-FFF2-40B4-BE49-F238E27FC236}">
                <a16:creationId xmlns:a16="http://schemas.microsoft.com/office/drawing/2014/main" id="{0E0B4223-AC3D-DE4A-2572-C9A06BF01601}"/>
              </a:ext>
            </a:extLst>
          </p:cNvPr>
          <p:cNvSpPr txBox="1"/>
          <p:nvPr/>
        </p:nvSpPr>
        <p:spPr>
          <a:xfrm>
            <a:off x="628073" y="6123543"/>
            <a:ext cx="6096000" cy="369332"/>
          </a:xfrm>
          <a:prstGeom prst="rect">
            <a:avLst/>
          </a:prstGeom>
          <a:noFill/>
        </p:spPr>
        <p:txBody>
          <a:bodyPr wrap="square">
            <a:spAutoFit/>
          </a:bodyPr>
          <a:lstStyle/>
          <a:p>
            <a:r>
              <a:rPr lang="en-US" sz="1800" dirty="0">
                <a:solidFill>
                  <a:srgbClr val="000000"/>
                </a:solidFill>
                <a:latin typeface="Adobe Clean DC"/>
              </a:rPr>
              <a:t>https://en.wikipedia.org/wiki/Autokey_cipher</a:t>
            </a:r>
            <a:endParaRPr lang="en-US" sz="1800" dirty="0">
              <a:solidFill>
                <a:prstClr val="black"/>
              </a:solidFill>
              <a:latin typeface="Adobe Clean DC"/>
            </a:endParaRPr>
          </a:p>
        </p:txBody>
      </p:sp>
      <p:sp>
        <p:nvSpPr>
          <p:cNvPr id="11" name="TextBox 10">
            <a:extLst>
              <a:ext uri="{FF2B5EF4-FFF2-40B4-BE49-F238E27FC236}">
                <a16:creationId xmlns:a16="http://schemas.microsoft.com/office/drawing/2014/main" id="{B1D1185A-B6BD-136A-4349-AB029F04782D}"/>
              </a:ext>
            </a:extLst>
          </p:cNvPr>
          <p:cNvSpPr txBox="1"/>
          <p:nvPr/>
        </p:nvSpPr>
        <p:spPr>
          <a:xfrm>
            <a:off x="773545" y="1459758"/>
            <a:ext cx="6096000" cy="369332"/>
          </a:xfrm>
          <a:prstGeom prst="rect">
            <a:avLst/>
          </a:prstGeom>
          <a:noFill/>
        </p:spPr>
        <p:txBody>
          <a:bodyPr wrap="square">
            <a:spAutoFit/>
          </a:bodyPr>
          <a:lstStyle/>
          <a:p>
            <a:r>
              <a:rPr lang="tr-TR" b="1" i="0" dirty="0">
                <a:solidFill>
                  <a:srgbClr val="202122"/>
                </a:solidFill>
                <a:effectLst/>
                <a:latin typeface="Arial" panose="020B0604020202020204" pitchFamily="34" charset="0"/>
              </a:rPr>
              <a:t>TYPES OF AUTOKEY CHIPER</a:t>
            </a:r>
            <a:endParaRPr lang="en-US" b="1" dirty="0"/>
          </a:p>
        </p:txBody>
      </p:sp>
      <p:pic>
        <p:nvPicPr>
          <p:cNvPr id="1026" name="Picture 2">
            <a:extLst>
              <a:ext uri="{FF2B5EF4-FFF2-40B4-BE49-F238E27FC236}">
                <a16:creationId xmlns:a16="http://schemas.microsoft.com/office/drawing/2014/main" id="{B99EF3B3-83D2-477D-C0A2-FA77DD5201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3745" y="1870941"/>
            <a:ext cx="4360718" cy="436071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A537D6A-08A5-EC7A-2FB3-AFA886A076E7}"/>
              </a:ext>
            </a:extLst>
          </p:cNvPr>
          <p:cNvSpPr txBox="1"/>
          <p:nvPr/>
        </p:nvSpPr>
        <p:spPr>
          <a:xfrm>
            <a:off x="480291" y="-1185339"/>
            <a:ext cx="6788727" cy="7294305"/>
          </a:xfrm>
          <a:prstGeom prst="rect">
            <a:avLst/>
          </a:prstGeom>
          <a:noFill/>
        </p:spPr>
        <p:txBody>
          <a:bodyPr wrap="square">
            <a:spAutoFit/>
          </a:bodyPr>
          <a:lstStyle/>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en-US" dirty="0"/>
          </a:p>
          <a:p>
            <a:r>
              <a:rPr lang="en-US" dirty="0"/>
              <a:t>Then, since the next letter in the key is U and the next letter in the ciphertext is N, the U row is looked across to find the N to retrieve T:</a:t>
            </a:r>
          </a:p>
          <a:p>
            <a:endParaRPr lang="en-US" dirty="0"/>
          </a:p>
          <a:p>
            <a:r>
              <a:rPr lang="en-US" dirty="0">
                <a:solidFill>
                  <a:srgbClr val="FF0000"/>
                </a:solidFill>
              </a:rPr>
              <a:t>QNXEPVYTWTWP</a:t>
            </a:r>
            <a:endParaRPr lang="tr-TR" dirty="0">
              <a:solidFill>
                <a:srgbClr val="FF0000"/>
              </a:solidFill>
            </a:endParaRPr>
          </a:p>
          <a:p>
            <a:endParaRPr lang="en-US" dirty="0">
              <a:solidFill>
                <a:srgbClr val="FF0000"/>
              </a:solidFill>
            </a:endParaRPr>
          </a:p>
          <a:p>
            <a:r>
              <a:rPr lang="en-US" dirty="0">
                <a:solidFill>
                  <a:srgbClr val="FF0000"/>
                </a:solidFill>
              </a:rPr>
              <a:t>QUEENLYAT</a:t>
            </a:r>
            <a:endParaRPr lang="tr-TR" dirty="0">
              <a:solidFill>
                <a:srgbClr val="FF0000"/>
              </a:solidFill>
            </a:endParaRPr>
          </a:p>
          <a:p>
            <a:endParaRPr lang="en-US" dirty="0">
              <a:solidFill>
                <a:srgbClr val="FF0000"/>
              </a:solidFill>
            </a:endParaRPr>
          </a:p>
          <a:p>
            <a:r>
              <a:rPr lang="en-US" dirty="0">
                <a:solidFill>
                  <a:srgbClr val="FF0000"/>
                </a:solidFill>
              </a:rPr>
              <a:t>At</a:t>
            </a:r>
            <a:endParaRPr lang="tr-TR" dirty="0">
              <a:solidFill>
                <a:srgbClr val="FF0000"/>
              </a:solidFill>
            </a:endParaRPr>
          </a:p>
          <a:p>
            <a:endParaRPr lang="tr-TR" dirty="0">
              <a:solidFill>
                <a:srgbClr val="FF0000"/>
              </a:solidFill>
            </a:endParaRPr>
          </a:p>
          <a:p>
            <a:pPr algn="l"/>
            <a:r>
              <a:rPr lang="en-US" b="0" i="0" dirty="0">
                <a:solidFill>
                  <a:srgbClr val="202122"/>
                </a:solidFill>
                <a:effectLst/>
                <a:latin typeface="Arial" panose="020B0604020202020204" pitchFamily="34" charset="0"/>
              </a:rPr>
              <a:t>That continues until the entire key is reconstructed, when the primer can be removed from the start.</a:t>
            </a:r>
          </a:p>
          <a:p>
            <a:pPr algn="l"/>
            <a:endParaRPr lang="tr-TR" b="0" i="0" dirty="0">
              <a:solidFill>
                <a:srgbClr val="202122"/>
              </a:solidFill>
              <a:effectLst/>
              <a:latin typeface="Arial" panose="020B0604020202020204" pitchFamily="34" charset="0"/>
            </a:endParaRPr>
          </a:p>
          <a:p>
            <a:pPr algn="l"/>
            <a:r>
              <a:rPr lang="en-US" b="0" i="0" dirty="0">
                <a:solidFill>
                  <a:srgbClr val="202122"/>
                </a:solidFill>
                <a:effectLst/>
                <a:latin typeface="Arial" panose="020B0604020202020204" pitchFamily="34" charset="0"/>
              </a:rPr>
              <a:t>With Vigenère's autokey cipher, a single mistake in encryption renders the rest of the message unintelligible</a:t>
            </a:r>
          </a:p>
          <a:p>
            <a:endParaRPr lang="en-US" dirty="0">
              <a:solidFill>
                <a:srgbClr val="FF0000"/>
              </a:solidFill>
            </a:endParaRPr>
          </a:p>
        </p:txBody>
      </p:sp>
    </p:spTree>
    <p:extLst>
      <p:ext uri="{BB962C8B-B14F-4D97-AF65-F5344CB8AC3E}">
        <p14:creationId xmlns:p14="http://schemas.microsoft.com/office/powerpoint/2010/main" val="793698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4" name="Picture 3">
            <a:extLst>
              <a:ext uri="{FF2B5EF4-FFF2-40B4-BE49-F238E27FC236}">
                <a16:creationId xmlns:a16="http://schemas.microsoft.com/office/drawing/2014/main" id="{2A1D62B7-5585-1219-45E3-478ED2130823}"/>
              </a:ext>
            </a:extLst>
          </p:cNvPr>
          <p:cNvPicPr>
            <a:picLocks noChangeAspect="1"/>
          </p:cNvPicPr>
          <p:nvPr/>
        </p:nvPicPr>
        <p:blipFill>
          <a:blip r:embed="rId2"/>
          <a:stretch>
            <a:fillRect/>
          </a:stretch>
        </p:blipFill>
        <p:spPr>
          <a:xfrm>
            <a:off x="1228725" y="1801091"/>
            <a:ext cx="6372802" cy="4452071"/>
          </a:xfrm>
          <a:prstGeom prst="rect">
            <a:avLst/>
          </a:prstGeom>
        </p:spPr>
      </p:pic>
      <p:pic>
        <p:nvPicPr>
          <p:cNvPr id="8" name="Picture 7">
            <a:extLst>
              <a:ext uri="{FF2B5EF4-FFF2-40B4-BE49-F238E27FC236}">
                <a16:creationId xmlns:a16="http://schemas.microsoft.com/office/drawing/2014/main" id="{7BA4330A-F76F-B406-B671-13AE2EEE3E5E}"/>
              </a:ext>
            </a:extLst>
          </p:cNvPr>
          <p:cNvPicPr>
            <a:picLocks noChangeAspect="1"/>
          </p:cNvPicPr>
          <p:nvPr/>
        </p:nvPicPr>
        <p:blipFill>
          <a:blip r:embed="rId3"/>
          <a:stretch>
            <a:fillRect/>
          </a:stretch>
        </p:blipFill>
        <p:spPr>
          <a:xfrm>
            <a:off x="7783223" y="2905991"/>
            <a:ext cx="4162425" cy="2819400"/>
          </a:xfrm>
          <a:prstGeom prst="rect">
            <a:avLst/>
          </a:prstGeom>
        </p:spPr>
      </p:pic>
    </p:spTree>
    <p:extLst>
      <p:ext uri="{BB962C8B-B14F-4D97-AF65-F5344CB8AC3E}">
        <p14:creationId xmlns:p14="http://schemas.microsoft.com/office/powerpoint/2010/main" val="776335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8" name="Picture 7">
            <a:extLst>
              <a:ext uri="{FF2B5EF4-FFF2-40B4-BE49-F238E27FC236}">
                <a16:creationId xmlns:a16="http://schemas.microsoft.com/office/drawing/2014/main" id="{7BA4330A-F76F-B406-B671-13AE2EEE3E5E}"/>
              </a:ext>
            </a:extLst>
          </p:cNvPr>
          <p:cNvPicPr>
            <a:picLocks noChangeAspect="1"/>
          </p:cNvPicPr>
          <p:nvPr/>
        </p:nvPicPr>
        <p:blipFill>
          <a:blip r:embed="rId2"/>
          <a:stretch>
            <a:fillRect/>
          </a:stretch>
        </p:blipFill>
        <p:spPr>
          <a:xfrm>
            <a:off x="7783223" y="2905991"/>
            <a:ext cx="4162425" cy="2819400"/>
          </a:xfrm>
          <a:prstGeom prst="rect">
            <a:avLst/>
          </a:prstGeom>
        </p:spPr>
      </p:pic>
      <p:pic>
        <p:nvPicPr>
          <p:cNvPr id="5" name="Picture 4">
            <a:extLst>
              <a:ext uri="{FF2B5EF4-FFF2-40B4-BE49-F238E27FC236}">
                <a16:creationId xmlns:a16="http://schemas.microsoft.com/office/drawing/2014/main" id="{8ED82174-283B-DB2C-D7E3-34777761F011}"/>
              </a:ext>
            </a:extLst>
          </p:cNvPr>
          <p:cNvPicPr>
            <a:picLocks noChangeAspect="1"/>
          </p:cNvPicPr>
          <p:nvPr/>
        </p:nvPicPr>
        <p:blipFill>
          <a:blip r:embed="rId3"/>
          <a:stretch>
            <a:fillRect/>
          </a:stretch>
        </p:blipFill>
        <p:spPr>
          <a:xfrm>
            <a:off x="838200" y="1603663"/>
            <a:ext cx="6864927" cy="3429000"/>
          </a:xfrm>
          <a:prstGeom prst="rect">
            <a:avLst/>
          </a:prstGeom>
        </p:spPr>
      </p:pic>
      <p:pic>
        <p:nvPicPr>
          <p:cNvPr id="7" name="Picture 6">
            <a:extLst>
              <a:ext uri="{FF2B5EF4-FFF2-40B4-BE49-F238E27FC236}">
                <a16:creationId xmlns:a16="http://schemas.microsoft.com/office/drawing/2014/main" id="{71DB160B-CDFF-5078-844F-59AD6CC37DB0}"/>
              </a:ext>
            </a:extLst>
          </p:cNvPr>
          <p:cNvPicPr>
            <a:picLocks noChangeAspect="1"/>
          </p:cNvPicPr>
          <p:nvPr/>
        </p:nvPicPr>
        <p:blipFill>
          <a:blip r:embed="rId4"/>
          <a:stretch>
            <a:fillRect/>
          </a:stretch>
        </p:blipFill>
        <p:spPr>
          <a:xfrm>
            <a:off x="755940" y="5254337"/>
            <a:ext cx="7305675" cy="1104900"/>
          </a:xfrm>
          <a:prstGeom prst="rect">
            <a:avLst/>
          </a:prstGeom>
        </p:spPr>
      </p:pic>
    </p:spTree>
    <p:extLst>
      <p:ext uri="{BB962C8B-B14F-4D97-AF65-F5344CB8AC3E}">
        <p14:creationId xmlns:p14="http://schemas.microsoft.com/office/powerpoint/2010/main" val="1115667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4" name="Picture 3">
            <a:extLst>
              <a:ext uri="{FF2B5EF4-FFF2-40B4-BE49-F238E27FC236}">
                <a16:creationId xmlns:a16="http://schemas.microsoft.com/office/drawing/2014/main" id="{7E156A92-3819-08E4-2C2F-9ADE34743E09}"/>
              </a:ext>
            </a:extLst>
          </p:cNvPr>
          <p:cNvPicPr>
            <a:picLocks noChangeAspect="1"/>
          </p:cNvPicPr>
          <p:nvPr/>
        </p:nvPicPr>
        <p:blipFill>
          <a:blip r:embed="rId2"/>
          <a:stretch>
            <a:fillRect/>
          </a:stretch>
        </p:blipFill>
        <p:spPr>
          <a:xfrm>
            <a:off x="706582" y="1948728"/>
            <a:ext cx="9448800" cy="1914525"/>
          </a:xfrm>
          <a:prstGeom prst="rect">
            <a:avLst/>
          </a:prstGeom>
        </p:spPr>
      </p:pic>
    </p:spTree>
    <p:extLst>
      <p:ext uri="{BB962C8B-B14F-4D97-AF65-F5344CB8AC3E}">
        <p14:creationId xmlns:p14="http://schemas.microsoft.com/office/powerpoint/2010/main" val="4262995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5" name="Picture 4">
            <a:extLst>
              <a:ext uri="{FF2B5EF4-FFF2-40B4-BE49-F238E27FC236}">
                <a16:creationId xmlns:a16="http://schemas.microsoft.com/office/drawing/2014/main" id="{7207506D-8359-418E-FB59-5A00BA2C7496}"/>
              </a:ext>
            </a:extLst>
          </p:cNvPr>
          <p:cNvPicPr>
            <a:picLocks noChangeAspect="1"/>
          </p:cNvPicPr>
          <p:nvPr/>
        </p:nvPicPr>
        <p:blipFill>
          <a:blip r:embed="rId2"/>
          <a:stretch>
            <a:fillRect/>
          </a:stretch>
        </p:blipFill>
        <p:spPr>
          <a:xfrm>
            <a:off x="1638300" y="1933575"/>
            <a:ext cx="8915400" cy="2990850"/>
          </a:xfrm>
          <a:prstGeom prst="rect">
            <a:avLst/>
          </a:prstGeom>
        </p:spPr>
      </p:pic>
    </p:spTree>
    <p:extLst>
      <p:ext uri="{BB962C8B-B14F-4D97-AF65-F5344CB8AC3E}">
        <p14:creationId xmlns:p14="http://schemas.microsoft.com/office/powerpoint/2010/main" val="894278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5" name="Picture 4">
            <a:extLst>
              <a:ext uri="{FF2B5EF4-FFF2-40B4-BE49-F238E27FC236}">
                <a16:creationId xmlns:a16="http://schemas.microsoft.com/office/drawing/2014/main" id="{7207506D-8359-418E-FB59-5A00BA2C7496}"/>
              </a:ext>
            </a:extLst>
          </p:cNvPr>
          <p:cNvPicPr>
            <a:picLocks noChangeAspect="1"/>
          </p:cNvPicPr>
          <p:nvPr/>
        </p:nvPicPr>
        <p:blipFill>
          <a:blip r:embed="rId2"/>
          <a:stretch>
            <a:fillRect/>
          </a:stretch>
        </p:blipFill>
        <p:spPr>
          <a:xfrm>
            <a:off x="1638300" y="1933575"/>
            <a:ext cx="8915400" cy="2990850"/>
          </a:xfrm>
          <a:prstGeom prst="rect">
            <a:avLst/>
          </a:prstGeom>
        </p:spPr>
      </p:pic>
    </p:spTree>
    <p:extLst>
      <p:ext uri="{BB962C8B-B14F-4D97-AF65-F5344CB8AC3E}">
        <p14:creationId xmlns:p14="http://schemas.microsoft.com/office/powerpoint/2010/main" val="856067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sp>
        <p:nvSpPr>
          <p:cNvPr id="11" name="TextBox 10">
            <a:extLst>
              <a:ext uri="{FF2B5EF4-FFF2-40B4-BE49-F238E27FC236}">
                <a16:creationId xmlns:a16="http://schemas.microsoft.com/office/drawing/2014/main" id="{B1D1185A-B6BD-136A-4349-AB029F04782D}"/>
              </a:ext>
            </a:extLst>
          </p:cNvPr>
          <p:cNvSpPr txBox="1"/>
          <p:nvPr/>
        </p:nvSpPr>
        <p:spPr>
          <a:xfrm>
            <a:off x="773545" y="1459758"/>
            <a:ext cx="6096000" cy="369332"/>
          </a:xfrm>
          <a:prstGeom prst="rect">
            <a:avLst/>
          </a:prstGeom>
          <a:noFill/>
        </p:spPr>
        <p:txBody>
          <a:bodyPr wrap="square">
            <a:spAutoFit/>
          </a:bodyPr>
          <a:lstStyle/>
          <a:p>
            <a:r>
              <a:rPr lang="tr-TR" b="1" i="0" dirty="0">
                <a:solidFill>
                  <a:srgbClr val="202122"/>
                </a:solidFill>
                <a:effectLst/>
                <a:latin typeface="Arial" panose="020B0604020202020204" pitchFamily="34" charset="0"/>
              </a:rPr>
              <a:t>TYPES OF Vigenère's CHIPER</a:t>
            </a:r>
            <a:endParaRPr lang="en-US" b="1" dirty="0"/>
          </a:p>
        </p:txBody>
      </p:sp>
      <p:pic>
        <p:nvPicPr>
          <p:cNvPr id="1026" name="Picture 2">
            <a:extLst>
              <a:ext uri="{FF2B5EF4-FFF2-40B4-BE49-F238E27FC236}">
                <a16:creationId xmlns:a16="http://schemas.microsoft.com/office/drawing/2014/main" id="{B99EF3B3-83D2-477D-C0A2-FA77DD5201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2131" y="1870941"/>
            <a:ext cx="3532332" cy="353233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7219786-AD52-6401-EB66-857382BBDE3B}"/>
              </a:ext>
            </a:extLst>
          </p:cNvPr>
          <p:cNvPicPr>
            <a:picLocks noChangeAspect="1"/>
          </p:cNvPicPr>
          <p:nvPr/>
        </p:nvPicPr>
        <p:blipFill>
          <a:blip r:embed="rId3"/>
          <a:stretch>
            <a:fillRect/>
          </a:stretch>
        </p:blipFill>
        <p:spPr>
          <a:xfrm>
            <a:off x="377537" y="2023053"/>
            <a:ext cx="7787316" cy="4204997"/>
          </a:xfrm>
          <a:prstGeom prst="rect">
            <a:avLst/>
          </a:prstGeom>
        </p:spPr>
      </p:pic>
    </p:spTree>
    <p:extLst>
      <p:ext uri="{BB962C8B-B14F-4D97-AF65-F5344CB8AC3E}">
        <p14:creationId xmlns:p14="http://schemas.microsoft.com/office/powerpoint/2010/main" val="3604327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5" name="Picture 4">
            <a:extLst>
              <a:ext uri="{FF2B5EF4-FFF2-40B4-BE49-F238E27FC236}">
                <a16:creationId xmlns:a16="http://schemas.microsoft.com/office/drawing/2014/main" id="{A12AFB09-EA15-7099-D0C1-01AD90141361}"/>
              </a:ext>
            </a:extLst>
          </p:cNvPr>
          <p:cNvPicPr>
            <a:picLocks noChangeAspect="1"/>
          </p:cNvPicPr>
          <p:nvPr/>
        </p:nvPicPr>
        <p:blipFill>
          <a:blip r:embed="rId2"/>
          <a:stretch>
            <a:fillRect/>
          </a:stretch>
        </p:blipFill>
        <p:spPr>
          <a:xfrm>
            <a:off x="1462087" y="2152073"/>
            <a:ext cx="9267825" cy="4434464"/>
          </a:xfrm>
          <a:prstGeom prst="rect">
            <a:avLst/>
          </a:prstGeom>
        </p:spPr>
      </p:pic>
    </p:spTree>
    <p:extLst>
      <p:ext uri="{BB962C8B-B14F-4D97-AF65-F5344CB8AC3E}">
        <p14:creationId xmlns:p14="http://schemas.microsoft.com/office/powerpoint/2010/main" val="233982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6F31-0041-B4FE-81D9-E0567A1BAD82}"/>
              </a:ext>
            </a:extLst>
          </p:cNvPr>
          <p:cNvSpPr>
            <a:spLocks noGrp="1"/>
          </p:cNvSpPr>
          <p:nvPr>
            <p:ph type="title"/>
          </p:nvPr>
        </p:nvSpPr>
        <p:spPr/>
        <p:txBody>
          <a:bodyPr/>
          <a:lstStyle/>
          <a:p>
            <a:r>
              <a:rPr lang="en-US" dirty="0"/>
              <a:t>ELEMENTARY CRYPTOGRAPHY</a:t>
            </a:r>
          </a:p>
        </p:txBody>
      </p:sp>
      <p:pic>
        <p:nvPicPr>
          <p:cNvPr id="4" name="Picture 3">
            <a:extLst>
              <a:ext uri="{FF2B5EF4-FFF2-40B4-BE49-F238E27FC236}">
                <a16:creationId xmlns:a16="http://schemas.microsoft.com/office/drawing/2014/main" id="{E787E1D3-3D36-45D6-E0C9-B1AB97CC88DE}"/>
              </a:ext>
            </a:extLst>
          </p:cNvPr>
          <p:cNvPicPr>
            <a:picLocks noChangeAspect="1"/>
          </p:cNvPicPr>
          <p:nvPr/>
        </p:nvPicPr>
        <p:blipFill>
          <a:blip r:embed="rId2"/>
          <a:stretch>
            <a:fillRect/>
          </a:stretch>
        </p:blipFill>
        <p:spPr>
          <a:xfrm>
            <a:off x="1556327" y="1930400"/>
            <a:ext cx="8839200" cy="4825258"/>
          </a:xfrm>
          <a:prstGeom prst="rect">
            <a:avLst/>
          </a:prstGeom>
        </p:spPr>
      </p:pic>
    </p:spTree>
    <p:extLst>
      <p:ext uri="{BB962C8B-B14F-4D97-AF65-F5344CB8AC3E}">
        <p14:creationId xmlns:p14="http://schemas.microsoft.com/office/powerpoint/2010/main" val="2113516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71A0BF-E394-86C9-7CC2-D92DFD69155B}"/>
              </a:ext>
            </a:extLst>
          </p:cNvPr>
          <p:cNvPicPr>
            <a:picLocks noChangeAspect="1"/>
          </p:cNvPicPr>
          <p:nvPr/>
        </p:nvPicPr>
        <p:blipFill>
          <a:blip r:embed="rId2"/>
          <a:stretch>
            <a:fillRect/>
          </a:stretch>
        </p:blipFill>
        <p:spPr>
          <a:xfrm>
            <a:off x="541341" y="1533237"/>
            <a:ext cx="10145421" cy="3660486"/>
          </a:xfrm>
          <a:prstGeom prst="rect">
            <a:avLst/>
          </a:prstGeom>
        </p:spPr>
      </p:pic>
    </p:spTree>
    <p:extLst>
      <p:ext uri="{BB962C8B-B14F-4D97-AF65-F5344CB8AC3E}">
        <p14:creationId xmlns:p14="http://schemas.microsoft.com/office/powerpoint/2010/main" val="3549162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6A5D87-C30C-57BC-A6CD-41FED75B2E2D}"/>
              </a:ext>
            </a:extLst>
          </p:cNvPr>
          <p:cNvPicPr>
            <a:picLocks noChangeAspect="1"/>
          </p:cNvPicPr>
          <p:nvPr/>
        </p:nvPicPr>
        <p:blipFill>
          <a:blip r:embed="rId2"/>
          <a:stretch>
            <a:fillRect/>
          </a:stretch>
        </p:blipFill>
        <p:spPr>
          <a:xfrm>
            <a:off x="788364" y="1457325"/>
            <a:ext cx="9703423" cy="4352348"/>
          </a:xfrm>
          <a:prstGeom prst="rect">
            <a:avLst/>
          </a:prstGeom>
        </p:spPr>
      </p:pic>
    </p:spTree>
    <p:extLst>
      <p:ext uri="{BB962C8B-B14F-4D97-AF65-F5344CB8AC3E}">
        <p14:creationId xmlns:p14="http://schemas.microsoft.com/office/powerpoint/2010/main" val="1120099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A4F8B5-A3ED-79FA-A9CF-C16B4B3EA882}"/>
              </a:ext>
            </a:extLst>
          </p:cNvPr>
          <p:cNvPicPr>
            <a:picLocks noChangeAspect="1"/>
          </p:cNvPicPr>
          <p:nvPr/>
        </p:nvPicPr>
        <p:blipFill>
          <a:blip r:embed="rId2"/>
          <a:stretch>
            <a:fillRect/>
          </a:stretch>
        </p:blipFill>
        <p:spPr>
          <a:xfrm>
            <a:off x="1719262" y="428625"/>
            <a:ext cx="8753475" cy="6000750"/>
          </a:xfrm>
          <a:prstGeom prst="rect">
            <a:avLst/>
          </a:prstGeom>
        </p:spPr>
      </p:pic>
    </p:spTree>
    <p:extLst>
      <p:ext uri="{BB962C8B-B14F-4D97-AF65-F5344CB8AC3E}">
        <p14:creationId xmlns:p14="http://schemas.microsoft.com/office/powerpoint/2010/main" val="2966751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01AE7F-2470-DDC5-70CA-CB7053A0698F}"/>
              </a:ext>
            </a:extLst>
          </p:cNvPr>
          <p:cNvPicPr>
            <a:picLocks noChangeAspect="1"/>
          </p:cNvPicPr>
          <p:nvPr/>
        </p:nvPicPr>
        <p:blipFill>
          <a:blip r:embed="rId2"/>
          <a:stretch>
            <a:fillRect/>
          </a:stretch>
        </p:blipFill>
        <p:spPr>
          <a:xfrm>
            <a:off x="1328737" y="923925"/>
            <a:ext cx="9534525" cy="5010150"/>
          </a:xfrm>
          <a:prstGeom prst="rect">
            <a:avLst/>
          </a:prstGeom>
        </p:spPr>
      </p:pic>
    </p:spTree>
    <p:extLst>
      <p:ext uri="{BB962C8B-B14F-4D97-AF65-F5344CB8AC3E}">
        <p14:creationId xmlns:p14="http://schemas.microsoft.com/office/powerpoint/2010/main" val="3762356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D9AC27-231F-B337-7B7C-28C9584FF314}"/>
              </a:ext>
            </a:extLst>
          </p:cNvPr>
          <p:cNvPicPr>
            <a:picLocks noChangeAspect="1"/>
          </p:cNvPicPr>
          <p:nvPr/>
        </p:nvPicPr>
        <p:blipFill>
          <a:blip r:embed="rId2"/>
          <a:stretch>
            <a:fillRect/>
          </a:stretch>
        </p:blipFill>
        <p:spPr>
          <a:xfrm>
            <a:off x="1595437" y="985837"/>
            <a:ext cx="9001125" cy="4886325"/>
          </a:xfrm>
          <a:prstGeom prst="rect">
            <a:avLst/>
          </a:prstGeom>
        </p:spPr>
      </p:pic>
    </p:spTree>
    <p:extLst>
      <p:ext uri="{BB962C8B-B14F-4D97-AF65-F5344CB8AC3E}">
        <p14:creationId xmlns:p14="http://schemas.microsoft.com/office/powerpoint/2010/main" val="822899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48A300-03EE-D943-0C36-27FFCB43D6F1}"/>
              </a:ext>
            </a:extLst>
          </p:cNvPr>
          <p:cNvPicPr>
            <a:picLocks noChangeAspect="1"/>
          </p:cNvPicPr>
          <p:nvPr/>
        </p:nvPicPr>
        <p:blipFill>
          <a:blip r:embed="rId2"/>
          <a:stretch>
            <a:fillRect/>
          </a:stretch>
        </p:blipFill>
        <p:spPr>
          <a:xfrm>
            <a:off x="1297276" y="903864"/>
            <a:ext cx="8562975" cy="1152525"/>
          </a:xfrm>
          <a:prstGeom prst="rect">
            <a:avLst/>
          </a:prstGeom>
        </p:spPr>
      </p:pic>
      <p:pic>
        <p:nvPicPr>
          <p:cNvPr id="6" name="Picture 5">
            <a:extLst>
              <a:ext uri="{FF2B5EF4-FFF2-40B4-BE49-F238E27FC236}">
                <a16:creationId xmlns:a16="http://schemas.microsoft.com/office/drawing/2014/main" id="{3058F21E-B4D9-F79E-946F-160D957D713B}"/>
              </a:ext>
            </a:extLst>
          </p:cNvPr>
          <p:cNvPicPr>
            <a:picLocks noChangeAspect="1"/>
          </p:cNvPicPr>
          <p:nvPr/>
        </p:nvPicPr>
        <p:blipFill>
          <a:blip r:embed="rId3"/>
          <a:stretch>
            <a:fillRect/>
          </a:stretch>
        </p:blipFill>
        <p:spPr>
          <a:xfrm>
            <a:off x="1866900" y="2056389"/>
            <a:ext cx="8458200" cy="4371975"/>
          </a:xfrm>
          <a:prstGeom prst="rect">
            <a:avLst/>
          </a:prstGeom>
        </p:spPr>
      </p:pic>
    </p:spTree>
    <p:extLst>
      <p:ext uri="{BB962C8B-B14F-4D97-AF65-F5344CB8AC3E}">
        <p14:creationId xmlns:p14="http://schemas.microsoft.com/office/powerpoint/2010/main" val="28275658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D5F721-7037-9678-4397-ED0C7858C996}"/>
              </a:ext>
            </a:extLst>
          </p:cNvPr>
          <p:cNvPicPr>
            <a:picLocks noChangeAspect="1"/>
          </p:cNvPicPr>
          <p:nvPr/>
        </p:nvPicPr>
        <p:blipFill>
          <a:blip r:embed="rId2"/>
          <a:stretch>
            <a:fillRect/>
          </a:stretch>
        </p:blipFill>
        <p:spPr>
          <a:xfrm>
            <a:off x="942109" y="942079"/>
            <a:ext cx="9516341" cy="4591946"/>
          </a:xfrm>
          <a:prstGeom prst="rect">
            <a:avLst/>
          </a:prstGeom>
        </p:spPr>
      </p:pic>
    </p:spTree>
    <p:extLst>
      <p:ext uri="{BB962C8B-B14F-4D97-AF65-F5344CB8AC3E}">
        <p14:creationId xmlns:p14="http://schemas.microsoft.com/office/powerpoint/2010/main" val="41608189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096226-B13C-D077-C9CC-41BCF1FEA426}"/>
              </a:ext>
            </a:extLst>
          </p:cNvPr>
          <p:cNvPicPr>
            <a:picLocks noChangeAspect="1"/>
          </p:cNvPicPr>
          <p:nvPr/>
        </p:nvPicPr>
        <p:blipFill>
          <a:blip r:embed="rId2"/>
          <a:stretch>
            <a:fillRect/>
          </a:stretch>
        </p:blipFill>
        <p:spPr>
          <a:xfrm>
            <a:off x="1058285" y="807171"/>
            <a:ext cx="8486775" cy="3267075"/>
          </a:xfrm>
          <a:prstGeom prst="rect">
            <a:avLst/>
          </a:prstGeom>
        </p:spPr>
      </p:pic>
      <p:pic>
        <p:nvPicPr>
          <p:cNvPr id="6" name="Picture 5">
            <a:extLst>
              <a:ext uri="{FF2B5EF4-FFF2-40B4-BE49-F238E27FC236}">
                <a16:creationId xmlns:a16="http://schemas.microsoft.com/office/drawing/2014/main" id="{65DD0AB0-BACA-A7E7-DAD5-A3771AB18896}"/>
              </a:ext>
            </a:extLst>
          </p:cNvPr>
          <p:cNvPicPr>
            <a:picLocks noChangeAspect="1"/>
          </p:cNvPicPr>
          <p:nvPr/>
        </p:nvPicPr>
        <p:blipFill>
          <a:blip r:embed="rId3"/>
          <a:stretch>
            <a:fillRect/>
          </a:stretch>
        </p:blipFill>
        <p:spPr>
          <a:xfrm>
            <a:off x="1058285" y="4074246"/>
            <a:ext cx="8562975" cy="1019175"/>
          </a:xfrm>
          <a:prstGeom prst="rect">
            <a:avLst/>
          </a:prstGeom>
        </p:spPr>
      </p:pic>
    </p:spTree>
    <p:extLst>
      <p:ext uri="{BB962C8B-B14F-4D97-AF65-F5344CB8AC3E}">
        <p14:creationId xmlns:p14="http://schemas.microsoft.com/office/powerpoint/2010/main" val="2067994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48D984-8FAC-3965-EBD2-305B406413A5}"/>
              </a:ext>
            </a:extLst>
          </p:cNvPr>
          <p:cNvPicPr>
            <a:picLocks noChangeAspect="1"/>
          </p:cNvPicPr>
          <p:nvPr/>
        </p:nvPicPr>
        <p:blipFill>
          <a:blip r:embed="rId2"/>
          <a:stretch>
            <a:fillRect/>
          </a:stretch>
        </p:blipFill>
        <p:spPr>
          <a:xfrm>
            <a:off x="2152072" y="240470"/>
            <a:ext cx="8185295" cy="6617529"/>
          </a:xfrm>
          <a:prstGeom prst="rect">
            <a:avLst/>
          </a:prstGeom>
        </p:spPr>
      </p:pic>
    </p:spTree>
    <p:extLst>
      <p:ext uri="{BB962C8B-B14F-4D97-AF65-F5344CB8AC3E}">
        <p14:creationId xmlns:p14="http://schemas.microsoft.com/office/powerpoint/2010/main" val="2794214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327</Words>
  <Application>Microsoft Office PowerPoint</Application>
  <PresentationFormat>Geniş ekran</PresentationFormat>
  <Paragraphs>92</Paragraphs>
  <Slides>31</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31</vt:i4>
      </vt:variant>
    </vt:vector>
  </HeadingPairs>
  <TitlesOfParts>
    <vt:vector size="36" baseType="lpstr">
      <vt:lpstr>Adobe Clean DC</vt:lpstr>
      <vt:lpstr>Arial</vt:lpstr>
      <vt:lpstr>Calibri</vt:lpstr>
      <vt:lpstr>Calibri Light</vt:lpstr>
      <vt:lpstr>Office Theme</vt:lpstr>
      <vt:lpstr>Last week</vt:lpstr>
      <vt:lpstr>Last week</vt:lpstr>
      <vt:lpstr>Last week</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ELEMENTARY CRYPTOGRAPHY</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Last week</dc:title>
  <dc:creator>arel</dc:creator>
  <cp:lastModifiedBy>MONSTER</cp:lastModifiedBy>
  <cp:revision>10</cp:revision>
  <dcterms:created xsi:type="dcterms:W3CDTF">2023-10-15T09:48:00Z</dcterms:created>
  <dcterms:modified xsi:type="dcterms:W3CDTF">2023-10-19T15:14:17Z</dcterms:modified>
</cp:coreProperties>
</file>